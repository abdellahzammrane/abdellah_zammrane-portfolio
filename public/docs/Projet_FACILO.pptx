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lexandria" charset="1" panose="00000000000000000000"/>
      <p:regular r:id="rId18"/>
    </p:embeddedFont>
    <p:embeddedFont>
      <p:font typeface="Alexandria Bold" charset="1" panose="00000000000000000000"/>
      <p:regular r:id="rId19"/>
    </p:embeddedFont>
    <p:embeddedFont>
      <p:font typeface="Garet Bold" charset="1" panose="00000000000000000000"/>
      <p:regular r:id="rId20"/>
    </p:embeddedFont>
    <p:embeddedFont>
      <p:font typeface="Roboto Bold" charset="1" panose="02000000000000000000"/>
      <p:regular r:id="rId21"/>
    </p:embeddedFont>
    <p:embeddedFont>
      <p:font typeface="Roboto" charset="1" panose="02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12" Target="../media/image28.png" Type="http://schemas.openxmlformats.org/officeDocument/2006/relationships/image"/><Relationship Id="rId13" Target="../media/image29.png" Type="http://schemas.openxmlformats.org/officeDocument/2006/relationships/image"/><Relationship Id="rId14" Target="../media/image30.pn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3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6.png" Type="http://schemas.openxmlformats.org/officeDocument/2006/relationships/image"/><Relationship Id="rId14" Target="../media/image50.png" Type="http://schemas.openxmlformats.org/officeDocument/2006/relationships/image"/><Relationship Id="rId15" Target="../media/image51.png" Type="http://schemas.openxmlformats.org/officeDocument/2006/relationships/image"/><Relationship Id="rId16" Target="../media/image52.png" Type="http://schemas.openxmlformats.org/officeDocument/2006/relationships/image"/><Relationship Id="rId17" Target="../media/image53.png" Type="http://schemas.openxmlformats.org/officeDocument/2006/relationships/image"/><Relationship Id="rId2" Target="../media/image39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5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5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7.png" Type="http://schemas.openxmlformats.org/officeDocument/2006/relationships/image"/><Relationship Id="rId3" Target="../media/image58.png" Type="http://schemas.openxmlformats.org/officeDocument/2006/relationships/image"/><Relationship Id="rId4" Target="../media/image59.png" Type="http://schemas.openxmlformats.org/officeDocument/2006/relationships/image"/><Relationship Id="rId5" Target="../media/image60.png" Type="http://schemas.openxmlformats.org/officeDocument/2006/relationships/image"/><Relationship Id="rId6" Target="../media/image6.png" Type="http://schemas.openxmlformats.org/officeDocument/2006/relationships/image"/><Relationship Id="rId7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36053" y="0"/>
            <a:ext cx="15381601" cy="10287000"/>
          </a:xfrm>
          <a:custGeom>
            <a:avLst/>
            <a:gdLst/>
            <a:ahLst/>
            <a:cxnLst/>
            <a:rect r="r" b="b" t="t" l="l"/>
            <a:pathLst>
              <a:path h="10287000" w="15381601">
                <a:moveTo>
                  <a:pt x="0" y="0"/>
                </a:moveTo>
                <a:lnTo>
                  <a:pt x="15381602" y="0"/>
                </a:lnTo>
                <a:lnTo>
                  <a:pt x="153816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-24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976890" cy="10287000"/>
          </a:xfrm>
          <a:custGeom>
            <a:avLst/>
            <a:gdLst/>
            <a:ahLst/>
            <a:cxnLst/>
            <a:rect r="r" b="b" t="t" l="l"/>
            <a:pathLst>
              <a:path h="10287000" w="1197689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68976" y="2995365"/>
            <a:ext cx="5020450" cy="7291635"/>
          </a:xfrm>
          <a:custGeom>
            <a:avLst/>
            <a:gdLst/>
            <a:ahLst/>
            <a:cxnLst/>
            <a:rect r="r" b="b" t="t" l="l"/>
            <a:pathLst>
              <a:path h="7291635" w="5020450">
                <a:moveTo>
                  <a:pt x="0" y="0"/>
                </a:moveTo>
                <a:lnTo>
                  <a:pt x="5020450" y="0"/>
                </a:lnTo>
                <a:lnTo>
                  <a:pt x="5020450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15263" y="4484654"/>
            <a:ext cx="7841580" cy="5881185"/>
          </a:xfrm>
          <a:custGeom>
            <a:avLst/>
            <a:gdLst/>
            <a:ahLst/>
            <a:cxnLst/>
            <a:rect r="r" b="b" t="t" l="l"/>
            <a:pathLst>
              <a:path h="5881185" w="7841580">
                <a:moveTo>
                  <a:pt x="0" y="0"/>
                </a:moveTo>
                <a:lnTo>
                  <a:pt x="7841581" y="0"/>
                </a:lnTo>
                <a:lnTo>
                  <a:pt x="7841581" y="5881185"/>
                </a:lnTo>
                <a:lnTo>
                  <a:pt x="0" y="58811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86786" y="2786382"/>
            <a:ext cx="8403319" cy="7500618"/>
          </a:xfrm>
          <a:custGeom>
            <a:avLst/>
            <a:gdLst/>
            <a:ahLst/>
            <a:cxnLst/>
            <a:rect r="r" b="b" t="t" l="l"/>
            <a:pathLst>
              <a:path h="7500618" w="8403319">
                <a:moveTo>
                  <a:pt x="0" y="0"/>
                </a:moveTo>
                <a:lnTo>
                  <a:pt x="8403318" y="0"/>
                </a:lnTo>
                <a:lnTo>
                  <a:pt x="8403318" y="7500618"/>
                </a:lnTo>
                <a:lnTo>
                  <a:pt x="0" y="75006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5263" y="154768"/>
            <a:ext cx="5773182" cy="4329886"/>
          </a:xfrm>
          <a:custGeom>
            <a:avLst/>
            <a:gdLst/>
            <a:ahLst/>
            <a:cxnLst/>
            <a:rect r="r" b="b" t="t" l="l"/>
            <a:pathLst>
              <a:path h="4329886" w="5773182">
                <a:moveTo>
                  <a:pt x="0" y="0"/>
                </a:moveTo>
                <a:lnTo>
                  <a:pt x="5773182" y="0"/>
                </a:lnTo>
                <a:lnTo>
                  <a:pt x="5773182" y="4329886"/>
                </a:lnTo>
                <a:lnTo>
                  <a:pt x="0" y="432988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0"/>
            <a:ext cx="6379161" cy="7685736"/>
          </a:xfrm>
          <a:custGeom>
            <a:avLst/>
            <a:gdLst/>
            <a:ahLst/>
            <a:cxnLst/>
            <a:rect r="r" b="b" t="t" l="l"/>
            <a:pathLst>
              <a:path h="7685736" w="6379161">
                <a:moveTo>
                  <a:pt x="0" y="0"/>
                </a:moveTo>
                <a:lnTo>
                  <a:pt x="6379161" y="0"/>
                </a:lnTo>
                <a:lnTo>
                  <a:pt x="6379161" y="7685736"/>
                </a:lnTo>
                <a:lnTo>
                  <a:pt x="0" y="76857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12434" y="2781039"/>
            <a:ext cx="5966680" cy="170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24"/>
              </a:lnSpc>
            </a:pPr>
            <a:r>
              <a:rPr lang="en-US" sz="12824" spc="-256">
                <a:solidFill>
                  <a:srgbClr val="D7B4A1"/>
                </a:solidFill>
                <a:latin typeface="Alexandria"/>
                <a:ea typeface="Alexandria"/>
                <a:cs typeface="Alexandria"/>
                <a:sym typeface="Alexandria"/>
              </a:rPr>
              <a:t>Projet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2806" y="0"/>
            <a:ext cx="15381601" cy="10287000"/>
          </a:xfrm>
          <a:custGeom>
            <a:avLst/>
            <a:gdLst/>
            <a:ahLst/>
            <a:cxnLst/>
            <a:rect r="r" b="b" t="t" l="l"/>
            <a:pathLst>
              <a:path h="10287000" w="15381601">
                <a:moveTo>
                  <a:pt x="0" y="0"/>
                </a:moveTo>
                <a:lnTo>
                  <a:pt x="15381602" y="0"/>
                </a:lnTo>
                <a:lnTo>
                  <a:pt x="153816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-24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976890" cy="10287000"/>
          </a:xfrm>
          <a:custGeom>
            <a:avLst/>
            <a:gdLst/>
            <a:ahLst/>
            <a:cxnLst/>
            <a:rect r="r" b="b" t="t" l="l"/>
            <a:pathLst>
              <a:path h="10287000" w="11976890">
                <a:moveTo>
                  <a:pt x="0" y="0"/>
                </a:moveTo>
                <a:lnTo>
                  <a:pt x="11976890" y="0"/>
                </a:lnTo>
                <a:lnTo>
                  <a:pt x="1197689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50220" y="2995365"/>
            <a:ext cx="5020450" cy="7291635"/>
          </a:xfrm>
          <a:custGeom>
            <a:avLst/>
            <a:gdLst/>
            <a:ahLst/>
            <a:cxnLst/>
            <a:rect r="r" b="b" t="t" l="l"/>
            <a:pathLst>
              <a:path h="7291635" w="5020450">
                <a:moveTo>
                  <a:pt x="0" y="0"/>
                </a:moveTo>
                <a:lnTo>
                  <a:pt x="5020450" y="0"/>
                </a:lnTo>
                <a:lnTo>
                  <a:pt x="5020450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33448" y="1001477"/>
            <a:ext cx="8310552" cy="2651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70"/>
              </a:lnSpc>
            </a:pPr>
            <a:r>
              <a:rPr lang="en-US" sz="10270" spc="-100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 au Projet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4471" y="5862576"/>
            <a:ext cx="7175749" cy="99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3070">
                <a:solidFill>
                  <a:srgbClr val="F6F6F6"/>
                </a:solidFill>
                <a:latin typeface="Alexandria"/>
                <a:ea typeface="Alexandria"/>
                <a:cs typeface="Alexandria"/>
                <a:sym typeface="Alexandria"/>
              </a:rPr>
              <a:t>Faciliter la recherche, la localisation </a:t>
            </a:r>
          </a:p>
          <a:p>
            <a:pPr algn="l">
              <a:lnSpc>
                <a:spcPts val="3991"/>
              </a:lnSpc>
            </a:pPr>
            <a:r>
              <a:rPr lang="en-US" sz="3070">
                <a:solidFill>
                  <a:srgbClr val="F6F6F6"/>
                </a:solidFill>
                <a:latin typeface="Alexandria"/>
                <a:ea typeface="Alexandria"/>
                <a:cs typeface="Alexandria"/>
                <a:sym typeface="Alexandria"/>
              </a:rPr>
              <a:t>et la prise d'objets ou d'informations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0667" y="7080956"/>
            <a:ext cx="7695005" cy="99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3070">
                <a:solidFill>
                  <a:srgbClr val="F6F6F6"/>
                </a:solidFill>
                <a:latin typeface="Alexandria"/>
                <a:ea typeface="Alexandria"/>
                <a:cs typeface="Alexandria"/>
                <a:sym typeface="Alexandria"/>
              </a:rPr>
              <a:t>Un projet ancré dans un contexte éducatif et technologique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8710" y="8425116"/>
            <a:ext cx="6890757" cy="99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1"/>
              </a:lnSpc>
            </a:pPr>
            <a:r>
              <a:rPr lang="en-US" sz="3070">
                <a:solidFill>
                  <a:srgbClr val="F6F6F6"/>
                </a:solidFill>
                <a:latin typeface="Alexandria"/>
                <a:ea typeface="Alexandria"/>
                <a:cs typeface="Alexandria"/>
                <a:sym typeface="Alexandria"/>
              </a:rPr>
              <a:t>Une initiative clé dans le cadre du cours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353099" y="1757682"/>
            <a:ext cx="8403319" cy="7500618"/>
          </a:xfrm>
          <a:custGeom>
            <a:avLst/>
            <a:gdLst/>
            <a:ahLst/>
            <a:cxnLst/>
            <a:rect r="r" b="b" t="t" l="l"/>
            <a:pathLst>
              <a:path h="7500618" w="8403319">
                <a:moveTo>
                  <a:pt x="0" y="0"/>
                </a:moveTo>
                <a:lnTo>
                  <a:pt x="8403319" y="0"/>
                </a:lnTo>
                <a:lnTo>
                  <a:pt x="8403319" y="7500618"/>
                </a:lnTo>
                <a:lnTo>
                  <a:pt x="0" y="75006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7645452" cy="10287000"/>
          </a:xfrm>
          <a:custGeom>
            <a:avLst/>
            <a:gdLst/>
            <a:ahLst/>
            <a:cxnLst/>
            <a:rect r="r" b="b" t="t" l="l"/>
            <a:pathLst>
              <a:path h="10287000" w="7645452">
                <a:moveTo>
                  <a:pt x="0" y="0"/>
                </a:moveTo>
                <a:lnTo>
                  <a:pt x="7645452" y="0"/>
                </a:lnTo>
                <a:lnTo>
                  <a:pt x="764545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52" r="0" b="-655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2536" y="3651909"/>
            <a:ext cx="6126369" cy="2679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4"/>
              </a:lnSpc>
            </a:pPr>
            <a:r>
              <a:rPr lang="en-US" sz="6279" spc="-251" b="true">
                <a:solidFill>
                  <a:srgbClr val="F6F6F6"/>
                </a:solidFill>
                <a:latin typeface="Garet Bold"/>
                <a:ea typeface="Garet Bold"/>
                <a:cs typeface="Garet Bold"/>
                <a:sym typeface="Garet Bold"/>
              </a:rPr>
              <a:t>Objectifs et Fonctionnalités </a:t>
            </a:r>
            <a:r>
              <a:rPr lang="en-US" sz="6279" spc="-251" b="true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Principales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050220" y="634055"/>
            <a:ext cx="9592450" cy="1945894"/>
          </a:xfrm>
          <a:custGeom>
            <a:avLst/>
            <a:gdLst/>
            <a:ahLst/>
            <a:cxnLst/>
            <a:rect r="r" b="b" t="t" l="l"/>
            <a:pathLst>
              <a:path h="1945894" w="9592450">
                <a:moveTo>
                  <a:pt x="0" y="0"/>
                </a:moveTo>
                <a:lnTo>
                  <a:pt x="9592450" y="0"/>
                </a:lnTo>
                <a:lnTo>
                  <a:pt x="959245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535101" y="1060964"/>
            <a:ext cx="1060955" cy="1138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08"/>
              </a:lnSpc>
            </a:pPr>
            <a:r>
              <a:rPr lang="en-US" b="true" sz="7953" spc="-318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596057" y="1071335"/>
            <a:ext cx="641723" cy="1082267"/>
          </a:xfrm>
          <a:custGeom>
            <a:avLst/>
            <a:gdLst/>
            <a:ahLst/>
            <a:cxnLst/>
            <a:rect r="r" b="b" t="t" l="l"/>
            <a:pathLst>
              <a:path h="1082267" w="641723">
                <a:moveTo>
                  <a:pt x="0" y="0"/>
                </a:moveTo>
                <a:lnTo>
                  <a:pt x="641723" y="0"/>
                </a:lnTo>
                <a:lnTo>
                  <a:pt x="64172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691" r="0" b="-89691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06649" y="1360614"/>
            <a:ext cx="6227395" cy="889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9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Analyse &amp; logo</a:t>
            </a:r>
          </a:p>
          <a:p>
            <a:pPr algn="l">
              <a:lnSpc>
                <a:spcPts val="3541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50220" y="2350377"/>
            <a:ext cx="9592450" cy="1945894"/>
          </a:xfrm>
          <a:custGeom>
            <a:avLst/>
            <a:gdLst/>
            <a:ahLst/>
            <a:cxnLst/>
            <a:rect r="r" b="b" t="t" l="l"/>
            <a:pathLst>
              <a:path h="1945894" w="9592450">
                <a:moveTo>
                  <a:pt x="0" y="0"/>
                </a:moveTo>
                <a:lnTo>
                  <a:pt x="9592450" y="0"/>
                </a:lnTo>
                <a:lnTo>
                  <a:pt x="959245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535101" y="2999617"/>
            <a:ext cx="1060955" cy="94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1"/>
              </a:lnSpc>
            </a:pPr>
            <a:r>
              <a:rPr lang="en-US" b="true" sz="6563" spc="-262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394628" y="3213098"/>
            <a:ext cx="7429441" cy="44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Interface utilisateur intuitive (UI/UX)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050220" y="4285339"/>
            <a:ext cx="9592450" cy="1934962"/>
          </a:xfrm>
          <a:custGeom>
            <a:avLst/>
            <a:gdLst/>
            <a:ahLst/>
            <a:cxnLst/>
            <a:rect r="r" b="b" t="t" l="l"/>
            <a:pathLst>
              <a:path h="1934962" w="9592450">
                <a:moveTo>
                  <a:pt x="0" y="0"/>
                </a:moveTo>
                <a:lnTo>
                  <a:pt x="9592450" y="0"/>
                </a:lnTo>
                <a:lnTo>
                  <a:pt x="959245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35101" y="4806905"/>
            <a:ext cx="1060955" cy="9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6"/>
              </a:lnSpc>
            </a:pPr>
            <a:r>
              <a:rPr lang="en-US" b="true" sz="6684" spc="-267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89942" y="5035460"/>
            <a:ext cx="7898058" cy="441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Gestion robuste de la base de données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050220" y="5990729"/>
            <a:ext cx="9592450" cy="2153601"/>
          </a:xfrm>
          <a:custGeom>
            <a:avLst/>
            <a:gdLst/>
            <a:ahLst/>
            <a:cxnLst/>
            <a:rect r="r" b="b" t="t" l="l"/>
            <a:pathLst>
              <a:path h="2153601" w="9592450">
                <a:moveTo>
                  <a:pt x="0" y="0"/>
                </a:moveTo>
                <a:lnTo>
                  <a:pt x="9592450" y="0"/>
                </a:lnTo>
                <a:lnTo>
                  <a:pt x="959245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535101" y="6659401"/>
            <a:ext cx="1060955" cy="94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1"/>
              </a:lnSpc>
            </a:pPr>
            <a:r>
              <a:rPr lang="en-US" b="true" sz="6563" spc="-262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16961" y="6634698"/>
            <a:ext cx="5196132" cy="88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Fonctionnalités intégrées</a:t>
            </a:r>
          </a:p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front-end et back-end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8050220" y="7925691"/>
            <a:ext cx="9592450" cy="1934962"/>
          </a:xfrm>
          <a:custGeom>
            <a:avLst/>
            <a:gdLst/>
            <a:ahLst/>
            <a:cxnLst/>
            <a:rect r="r" b="b" t="t" l="l"/>
            <a:pathLst>
              <a:path h="1934962" w="9592450">
                <a:moveTo>
                  <a:pt x="0" y="0"/>
                </a:moveTo>
                <a:lnTo>
                  <a:pt x="9592450" y="0"/>
                </a:lnTo>
                <a:lnTo>
                  <a:pt x="9592450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535101" y="8511872"/>
            <a:ext cx="1060955" cy="956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6"/>
              </a:lnSpc>
            </a:pPr>
            <a:r>
              <a:rPr lang="en-US" b="true" sz="6684" spc="-267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07042" y="8457060"/>
            <a:ext cx="6188104" cy="88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Phase de tests et déploiement</a:t>
            </a:r>
          </a:p>
          <a:p>
            <a:pPr algn="l">
              <a:lnSpc>
                <a:spcPts val="3541"/>
              </a:lnSpc>
            </a:pPr>
            <a:r>
              <a:rPr lang="en-US" sz="2724" spc="-54" b="true">
                <a:solidFill>
                  <a:srgbClr val="F6F6F6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pour garantir la qualité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9596057" y="2864466"/>
            <a:ext cx="641723" cy="1082267"/>
          </a:xfrm>
          <a:custGeom>
            <a:avLst/>
            <a:gdLst/>
            <a:ahLst/>
            <a:cxnLst/>
            <a:rect r="r" b="b" t="t" l="l"/>
            <a:pathLst>
              <a:path h="1082267" w="641723">
                <a:moveTo>
                  <a:pt x="0" y="0"/>
                </a:moveTo>
                <a:lnTo>
                  <a:pt x="641723" y="0"/>
                </a:lnTo>
                <a:lnTo>
                  <a:pt x="641723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691" r="0" b="-8969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596057" y="4696480"/>
            <a:ext cx="641723" cy="1082267"/>
          </a:xfrm>
          <a:custGeom>
            <a:avLst/>
            <a:gdLst/>
            <a:ahLst/>
            <a:cxnLst/>
            <a:rect r="r" b="b" t="t" l="l"/>
            <a:pathLst>
              <a:path h="1082267" w="641723">
                <a:moveTo>
                  <a:pt x="0" y="0"/>
                </a:moveTo>
                <a:lnTo>
                  <a:pt x="641723" y="0"/>
                </a:lnTo>
                <a:lnTo>
                  <a:pt x="641723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691" r="0" b="-8969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596057" y="6582251"/>
            <a:ext cx="641723" cy="1082267"/>
          </a:xfrm>
          <a:custGeom>
            <a:avLst/>
            <a:gdLst/>
            <a:ahLst/>
            <a:cxnLst/>
            <a:rect r="r" b="b" t="t" l="l"/>
            <a:pathLst>
              <a:path h="1082267" w="641723">
                <a:moveTo>
                  <a:pt x="0" y="0"/>
                </a:moveTo>
                <a:lnTo>
                  <a:pt x="641723" y="0"/>
                </a:lnTo>
                <a:lnTo>
                  <a:pt x="641723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691" r="0" b="-8969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596057" y="8391922"/>
            <a:ext cx="641723" cy="1082267"/>
          </a:xfrm>
          <a:custGeom>
            <a:avLst/>
            <a:gdLst/>
            <a:ahLst/>
            <a:cxnLst/>
            <a:rect r="r" b="b" t="t" l="l"/>
            <a:pathLst>
              <a:path h="1082267" w="641723">
                <a:moveTo>
                  <a:pt x="0" y="0"/>
                </a:moveTo>
                <a:lnTo>
                  <a:pt x="641723" y="0"/>
                </a:lnTo>
                <a:lnTo>
                  <a:pt x="641723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9691" r="0" b="-89691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4272" y="954498"/>
            <a:ext cx="12404983" cy="2367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08"/>
              </a:lnSpc>
            </a:pPr>
            <a:r>
              <a:rPr lang="en-US" sz="8771" spc="-261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Organisation des Travaux par Phases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26574" y="4919394"/>
            <a:ext cx="3281340" cy="4733550"/>
          </a:xfrm>
          <a:custGeom>
            <a:avLst/>
            <a:gdLst/>
            <a:ahLst/>
            <a:cxnLst/>
            <a:rect r="r" b="b" t="t" l="l"/>
            <a:pathLst>
              <a:path h="4733550" w="3281340">
                <a:moveTo>
                  <a:pt x="0" y="0"/>
                </a:moveTo>
                <a:lnTo>
                  <a:pt x="3281340" y="0"/>
                </a:lnTo>
                <a:lnTo>
                  <a:pt x="3281340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91610" y="3730855"/>
            <a:ext cx="1206177" cy="124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1"/>
              </a:lnSpc>
            </a:pPr>
            <a:r>
              <a:rPr lang="en-US" b="true" sz="8519" spc="-253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919394"/>
            <a:ext cx="2843828" cy="229572"/>
          </a:xfrm>
          <a:custGeom>
            <a:avLst/>
            <a:gdLst/>
            <a:ahLst/>
            <a:cxnLst/>
            <a:rect r="r" b="b" t="t" l="l"/>
            <a:pathLst>
              <a:path h="229572" w="2843828">
                <a:moveTo>
                  <a:pt x="0" y="0"/>
                </a:moveTo>
                <a:lnTo>
                  <a:pt x="2843828" y="0"/>
                </a:lnTo>
                <a:lnTo>
                  <a:pt x="2843828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03684" y="5756118"/>
            <a:ext cx="2677738" cy="41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spc="-82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Analyse &amp;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08186" y="6552992"/>
            <a:ext cx="2227514" cy="15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analyse du projet</a:t>
            </a:r>
          </a:p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logo et slogan</a:t>
            </a:r>
          </a:p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architecture UI/UX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478220" y="5783021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915732" y="4919394"/>
            <a:ext cx="3270402" cy="4733550"/>
          </a:xfrm>
          <a:custGeom>
            <a:avLst/>
            <a:gdLst/>
            <a:ahLst/>
            <a:cxnLst/>
            <a:rect r="r" b="b" t="t" l="l"/>
            <a:pathLst>
              <a:path h="4733550" w="3270402">
                <a:moveTo>
                  <a:pt x="0" y="0"/>
                </a:moveTo>
                <a:lnTo>
                  <a:pt x="3270402" y="0"/>
                </a:lnTo>
                <a:lnTo>
                  <a:pt x="3270402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81344" y="3805322"/>
            <a:ext cx="1206177" cy="108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1"/>
              </a:lnSpc>
            </a:pPr>
            <a:r>
              <a:rPr lang="en-US" b="true" sz="7355" spc="-219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353244" y="4919394"/>
            <a:ext cx="2614134" cy="229572"/>
          </a:xfrm>
          <a:custGeom>
            <a:avLst/>
            <a:gdLst/>
            <a:ahLst/>
            <a:cxnLst/>
            <a:rect r="r" b="b" t="t" l="l"/>
            <a:pathLst>
              <a:path h="229572" w="2614134">
                <a:moveTo>
                  <a:pt x="0" y="0"/>
                </a:moveTo>
                <a:lnTo>
                  <a:pt x="2614134" y="0"/>
                </a:lnTo>
                <a:lnTo>
                  <a:pt x="261413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366759" y="5695894"/>
            <a:ext cx="2664770" cy="80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spc="-82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Modélisation &amp; Base de Données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70921" y="6619287"/>
            <a:ext cx="2248477" cy="224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dictionnaire</a:t>
            </a:r>
          </a:p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MCD/MLD</a:t>
            </a:r>
          </a:p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création base diagrammes UML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7175196" y="5783021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612708" y="4919394"/>
            <a:ext cx="3062584" cy="4733550"/>
          </a:xfrm>
          <a:custGeom>
            <a:avLst/>
            <a:gdLst/>
            <a:ahLst/>
            <a:cxnLst/>
            <a:rect r="r" b="b" t="t" l="l"/>
            <a:pathLst>
              <a:path h="4733550" w="3062584">
                <a:moveTo>
                  <a:pt x="0" y="0"/>
                </a:moveTo>
                <a:lnTo>
                  <a:pt x="3062584" y="0"/>
                </a:lnTo>
                <a:lnTo>
                  <a:pt x="3062584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944290" y="3805555"/>
            <a:ext cx="1206177" cy="1097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5"/>
              </a:lnSpc>
            </a:pPr>
            <a:r>
              <a:rPr lang="en-US" b="true" sz="7471" spc="-222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831464" y="4919394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942502" y="5695894"/>
            <a:ext cx="1384947" cy="41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spc="-82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Frontend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33810" y="6658418"/>
            <a:ext cx="2254138" cy="15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design HTML/CSS</a:t>
            </a:r>
          </a:p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responsive</a:t>
            </a:r>
          </a:p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JavaScript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0664354" y="5783021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1101866" y="4919394"/>
            <a:ext cx="3051646" cy="4733550"/>
          </a:xfrm>
          <a:custGeom>
            <a:avLst/>
            <a:gdLst/>
            <a:ahLst/>
            <a:cxnLst/>
            <a:rect r="r" b="b" t="t" l="l"/>
            <a:pathLst>
              <a:path h="4733550" w="3051646">
                <a:moveTo>
                  <a:pt x="0" y="0"/>
                </a:moveTo>
                <a:lnTo>
                  <a:pt x="3051646" y="0"/>
                </a:lnTo>
                <a:lnTo>
                  <a:pt x="3051646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1400079" y="3805322"/>
            <a:ext cx="1206177" cy="1088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61"/>
              </a:lnSpc>
            </a:pPr>
            <a:r>
              <a:rPr lang="en-US" b="true" sz="7355" spc="-219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320622" y="4919394"/>
            <a:ext cx="2614134" cy="229572"/>
          </a:xfrm>
          <a:custGeom>
            <a:avLst/>
            <a:gdLst/>
            <a:ahLst/>
            <a:cxnLst/>
            <a:rect r="r" b="b" t="t" l="l"/>
            <a:pathLst>
              <a:path h="229572" w="2614134">
                <a:moveTo>
                  <a:pt x="0" y="0"/>
                </a:moveTo>
                <a:lnTo>
                  <a:pt x="2614134" y="0"/>
                </a:lnTo>
                <a:lnTo>
                  <a:pt x="261413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392736" y="5695894"/>
            <a:ext cx="1940459" cy="80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spc="-82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Backend PHP/MySQL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95503" y="6619287"/>
            <a:ext cx="1663752" cy="2240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connexion</a:t>
            </a:r>
          </a:p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dépôt photos</a:t>
            </a:r>
          </a:p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recherche/</a:t>
            </a:r>
          </a:p>
          <a:p>
            <a:pPr algn="l">
              <a:lnSpc>
                <a:spcPts val="4623"/>
              </a:lnSpc>
            </a:pPr>
            <a:r>
              <a:rPr lang="en-US" sz="2311" spc="-68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consultation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923818" y="5783021"/>
            <a:ext cx="667206" cy="863627"/>
          </a:xfrm>
          <a:custGeom>
            <a:avLst/>
            <a:gdLst/>
            <a:ahLst/>
            <a:cxnLst/>
            <a:rect r="r" b="b" t="t" l="l"/>
            <a:pathLst>
              <a:path h="863627" w="667206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4361330" y="4919394"/>
            <a:ext cx="3281340" cy="4733550"/>
          </a:xfrm>
          <a:custGeom>
            <a:avLst/>
            <a:gdLst/>
            <a:ahLst/>
            <a:cxnLst/>
            <a:rect r="r" b="b" t="t" l="l"/>
            <a:pathLst>
              <a:path h="4733550" w="3281340">
                <a:moveTo>
                  <a:pt x="0" y="0"/>
                </a:moveTo>
                <a:lnTo>
                  <a:pt x="3281340" y="0"/>
                </a:lnTo>
                <a:lnTo>
                  <a:pt x="3281340" y="4733551"/>
                </a:lnTo>
                <a:lnTo>
                  <a:pt x="0" y="473355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829079" y="3805372"/>
            <a:ext cx="1206177" cy="1098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b="true" sz="7530" spc="-224">
                <a:solidFill>
                  <a:srgbClr val="D7B4A1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798842" y="4919394"/>
            <a:ext cx="2625072" cy="229572"/>
          </a:xfrm>
          <a:custGeom>
            <a:avLst/>
            <a:gdLst/>
            <a:ahLst/>
            <a:cxnLst/>
            <a:rect r="r" b="b" t="t" l="l"/>
            <a:pathLst>
              <a:path h="229572" w="2625072">
                <a:moveTo>
                  <a:pt x="0" y="0"/>
                </a:moveTo>
                <a:lnTo>
                  <a:pt x="2625072" y="0"/>
                </a:lnTo>
                <a:lnTo>
                  <a:pt x="2625072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4821592" y="5695894"/>
            <a:ext cx="1954864" cy="802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74"/>
              </a:lnSpc>
            </a:pPr>
            <a:r>
              <a:rPr lang="en-US" sz="2759" spc="-82" b="true">
                <a:solidFill>
                  <a:srgbClr val="FAFAFA"/>
                </a:solidFill>
                <a:latin typeface="Roboto Bold"/>
                <a:ea typeface="Roboto Bold"/>
                <a:cs typeface="Roboto Bold"/>
                <a:sym typeface="Roboto Bold"/>
              </a:rPr>
              <a:t>Tests &amp; Déploiement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823305" y="6658418"/>
            <a:ext cx="1783612" cy="15637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validation</a:t>
            </a:r>
          </a:p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hébergement</a:t>
            </a:r>
          </a:p>
          <a:p>
            <a:pPr algn="l">
              <a:lnSpc>
                <a:spcPts val="4218"/>
              </a:lnSpc>
            </a:pPr>
            <a:r>
              <a:rPr lang="en-US" sz="2109" spc="-62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démonstration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5429250" y="0"/>
            <a:ext cx="12858750" cy="8229600"/>
          </a:xfrm>
          <a:custGeom>
            <a:avLst/>
            <a:gdLst/>
            <a:ahLst/>
            <a:cxnLst/>
            <a:rect r="r" b="b" t="t" l="l"/>
            <a:pathLst>
              <a:path h="8229600" w="12858750">
                <a:moveTo>
                  <a:pt x="0" y="0"/>
                </a:moveTo>
                <a:lnTo>
                  <a:pt x="12858750" y="0"/>
                </a:lnTo>
                <a:lnTo>
                  <a:pt x="12858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7171" y="2070411"/>
            <a:ext cx="5966460" cy="8229600"/>
          </a:xfrm>
          <a:custGeom>
            <a:avLst/>
            <a:gdLst/>
            <a:ahLst/>
            <a:cxnLst/>
            <a:rect r="r" b="b" t="t" l="l"/>
            <a:pathLst>
              <a:path h="8229600" w="5966460">
                <a:moveTo>
                  <a:pt x="0" y="0"/>
                </a:moveTo>
                <a:lnTo>
                  <a:pt x="5966460" y="0"/>
                </a:lnTo>
                <a:lnTo>
                  <a:pt x="59664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30867" y="1028700"/>
            <a:ext cx="15124826" cy="8846473"/>
          </a:xfrm>
          <a:custGeom>
            <a:avLst/>
            <a:gdLst/>
            <a:ahLst/>
            <a:cxnLst/>
            <a:rect r="r" b="b" t="t" l="l"/>
            <a:pathLst>
              <a:path h="8846473" w="15124826">
                <a:moveTo>
                  <a:pt x="0" y="0"/>
                </a:moveTo>
                <a:lnTo>
                  <a:pt x="15124825" y="0"/>
                </a:lnTo>
                <a:lnTo>
                  <a:pt x="15124825" y="8846473"/>
                </a:lnTo>
                <a:lnTo>
                  <a:pt x="0" y="88464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472" r="0" b="-27789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00365" y="57150"/>
            <a:ext cx="13985829" cy="9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8F8F8"/>
                </a:solidFill>
                <a:latin typeface="Garet Bold"/>
                <a:ea typeface="Garet Bold"/>
                <a:cs typeface="Garet Bold"/>
                <a:sym typeface="Garet Bold"/>
              </a:rPr>
              <a:t>LES TACHES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40392" y="-19050"/>
            <a:ext cx="254237" cy="993836"/>
            <a:chOff x="0" y="0"/>
            <a:chExt cx="4338976" cy="169614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38976" cy="16961470"/>
            </a:xfrm>
            <a:custGeom>
              <a:avLst/>
              <a:gdLst/>
              <a:ahLst/>
              <a:cxnLst/>
              <a:rect r="r" b="b" t="t" l="l"/>
              <a:pathLst>
                <a:path h="16961470" w="4338976">
                  <a:moveTo>
                    <a:pt x="0" y="0"/>
                  </a:moveTo>
                  <a:lnTo>
                    <a:pt x="4338976" y="0"/>
                  </a:lnTo>
                  <a:lnTo>
                    <a:pt x="4338976" y="16961470"/>
                  </a:lnTo>
                  <a:lnTo>
                    <a:pt x="0" y="16961470"/>
                  </a:lnTo>
                  <a:close/>
                </a:path>
              </a:pathLst>
            </a:custGeom>
            <a:solidFill>
              <a:srgbClr val="F5C2A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338976" cy="16970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5429250" y="0"/>
            <a:ext cx="12858750" cy="8229600"/>
          </a:xfrm>
          <a:custGeom>
            <a:avLst/>
            <a:gdLst/>
            <a:ahLst/>
            <a:cxnLst/>
            <a:rect r="r" b="b" t="t" l="l"/>
            <a:pathLst>
              <a:path h="8229600" w="12858750">
                <a:moveTo>
                  <a:pt x="0" y="0"/>
                </a:moveTo>
                <a:lnTo>
                  <a:pt x="12858750" y="0"/>
                </a:lnTo>
                <a:lnTo>
                  <a:pt x="12858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7171" y="2070411"/>
            <a:ext cx="5966460" cy="8229600"/>
          </a:xfrm>
          <a:custGeom>
            <a:avLst/>
            <a:gdLst/>
            <a:ahLst/>
            <a:cxnLst/>
            <a:rect r="r" b="b" t="t" l="l"/>
            <a:pathLst>
              <a:path h="8229600" w="5966460">
                <a:moveTo>
                  <a:pt x="0" y="0"/>
                </a:moveTo>
                <a:lnTo>
                  <a:pt x="5966460" y="0"/>
                </a:lnTo>
                <a:lnTo>
                  <a:pt x="59664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860950" y="1263270"/>
            <a:ext cx="14286347" cy="8655741"/>
          </a:xfrm>
          <a:custGeom>
            <a:avLst/>
            <a:gdLst/>
            <a:ahLst/>
            <a:cxnLst/>
            <a:rect r="r" b="b" t="t" l="l"/>
            <a:pathLst>
              <a:path h="8655741" w="14286347">
                <a:moveTo>
                  <a:pt x="0" y="0"/>
                </a:moveTo>
                <a:lnTo>
                  <a:pt x="14286347" y="0"/>
                </a:lnTo>
                <a:lnTo>
                  <a:pt x="14286347" y="8655741"/>
                </a:lnTo>
                <a:lnTo>
                  <a:pt x="0" y="865574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67" r="-273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7665" y="92014"/>
            <a:ext cx="13985829" cy="943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8F8F8"/>
                </a:solidFill>
                <a:latin typeface="Garet Bold"/>
                <a:ea typeface="Garet Bold"/>
                <a:cs typeface="Garet Bold"/>
                <a:sym typeface="Garet Bold"/>
              </a:rPr>
              <a:t>LES TACHES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848131" y="34864"/>
            <a:ext cx="254237" cy="993836"/>
            <a:chOff x="0" y="0"/>
            <a:chExt cx="4338976" cy="1696147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38976" cy="16961470"/>
            </a:xfrm>
            <a:custGeom>
              <a:avLst/>
              <a:gdLst/>
              <a:ahLst/>
              <a:cxnLst/>
              <a:rect r="r" b="b" t="t" l="l"/>
              <a:pathLst>
                <a:path h="16961470" w="4338976">
                  <a:moveTo>
                    <a:pt x="0" y="0"/>
                  </a:moveTo>
                  <a:lnTo>
                    <a:pt x="4338976" y="0"/>
                  </a:lnTo>
                  <a:lnTo>
                    <a:pt x="4338976" y="16961470"/>
                  </a:lnTo>
                  <a:lnTo>
                    <a:pt x="0" y="16961470"/>
                  </a:lnTo>
                  <a:close/>
                </a:path>
              </a:pathLst>
            </a:custGeom>
            <a:solidFill>
              <a:srgbClr val="F5C2A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4338976" cy="16970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2806" y="0"/>
            <a:ext cx="15381601" cy="10287000"/>
          </a:xfrm>
          <a:custGeom>
            <a:avLst/>
            <a:gdLst/>
            <a:ahLst/>
            <a:cxnLst/>
            <a:rect r="r" b="b" t="t" l="l"/>
            <a:pathLst>
              <a:path h="10287000" w="15381601">
                <a:moveTo>
                  <a:pt x="0" y="0"/>
                </a:moveTo>
                <a:lnTo>
                  <a:pt x="15381602" y="0"/>
                </a:lnTo>
                <a:lnTo>
                  <a:pt x="153816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61" t="-242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7437770" cy="10287000"/>
          </a:xfrm>
          <a:custGeom>
            <a:avLst/>
            <a:gdLst/>
            <a:ahLst/>
            <a:cxnLst/>
            <a:rect r="r" b="b" t="t" l="l"/>
            <a:pathLst>
              <a:path h="10287000" w="17437770">
                <a:moveTo>
                  <a:pt x="0" y="0"/>
                </a:moveTo>
                <a:lnTo>
                  <a:pt x="17437770" y="0"/>
                </a:lnTo>
                <a:lnTo>
                  <a:pt x="1743777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2797" r="0" b="-2279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98500" y="2261725"/>
            <a:ext cx="13084230" cy="395811"/>
            <a:chOff x="0" y="0"/>
            <a:chExt cx="3446052" cy="1042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46052" cy="104246"/>
            </a:xfrm>
            <a:custGeom>
              <a:avLst/>
              <a:gdLst/>
              <a:ahLst/>
              <a:cxnLst/>
              <a:rect r="r" b="b" t="t" l="l"/>
              <a:pathLst>
                <a:path h="104246" w="3446052">
                  <a:moveTo>
                    <a:pt x="0" y="0"/>
                  </a:moveTo>
                  <a:lnTo>
                    <a:pt x="3446052" y="0"/>
                  </a:lnTo>
                  <a:lnTo>
                    <a:pt x="3446052" y="104246"/>
                  </a:lnTo>
                  <a:lnTo>
                    <a:pt x="0" y="104246"/>
                  </a:lnTo>
                  <a:close/>
                </a:path>
              </a:pathLst>
            </a:custGeom>
            <a:solidFill>
              <a:srgbClr val="F5C2A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3446052" cy="1042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76733" y="8430918"/>
            <a:ext cx="15391397" cy="438144"/>
            <a:chOff x="0" y="0"/>
            <a:chExt cx="4053701" cy="11539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53701" cy="115396"/>
            </a:xfrm>
            <a:custGeom>
              <a:avLst/>
              <a:gdLst/>
              <a:ahLst/>
              <a:cxnLst/>
              <a:rect r="r" b="b" t="t" l="l"/>
              <a:pathLst>
                <a:path h="115396" w="4053701">
                  <a:moveTo>
                    <a:pt x="0" y="0"/>
                  </a:moveTo>
                  <a:lnTo>
                    <a:pt x="4053701" y="0"/>
                  </a:lnTo>
                  <a:lnTo>
                    <a:pt x="4053701" y="115396"/>
                  </a:lnTo>
                  <a:lnTo>
                    <a:pt x="0" y="115396"/>
                  </a:lnTo>
                  <a:close/>
                </a:path>
              </a:pathLst>
            </a:custGeom>
            <a:solidFill>
              <a:srgbClr val="F5C2A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4053701" cy="1153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8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6733" y="1916703"/>
            <a:ext cx="15237930" cy="6514215"/>
          </a:xfrm>
          <a:custGeom>
            <a:avLst/>
            <a:gdLst/>
            <a:ahLst/>
            <a:cxnLst/>
            <a:rect r="r" b="b" t="t" l="l"/>
            <a:pathLst>
              <a:path h="6514215" w="15237930">
                <a:moveTo>
                  <a:pt x="0" y="0"/>
                </a:moveTo>
                <a:lnTo>
                  <a:pt x="15237931" y="0"/>
                </a:lnTo>
                <a:lnTo>
                  <a:pt x="15237931" y="6514215"/>
                </a:lnTo>
                <a:lnTo>
                  <a:pt x="0" y="65142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909903" y="3145664"/>
            <a:ext cx="5020450" cy="7291635"/>
          </a:xfrm>
          <a:custGeom>
            <a:avLst/>
            <a:gdLst/>
            <a:ahLst/>
            <a:cxnLst/>
            <a:rect r="r" b="b" t="t" l="l"/>
            <a:pathLst>
              <a:path h="7291635" w="5020450">
                <a:moveTo>
                  <a:pt x="0" y="0"/>
                </a:moveTo>
                <a:lnTo>
                  <a:pt x="5020449" y="0"/>
                </a:lnTo>
                <a:lnTo>
                  <a:pt x="5020449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98500" y="788635"/>
            <a:ext cx="9219223" cy="87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sz="6662" spc="-65" b="true">
                <a:solidFill>
                  <a:srgbClr val="F5C2AF"/>
                </a:solidFill>
                <a:latin typeface="Garet Bold"/>
                <a:ea typeface="Garet Bold"/>
                <a:cs typeface="Garet Bold"/>
                <a:sym typeface="Garet Bold"/>
              </a:rPr>
              <a:t>Le Model V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87867" y="668867"/>
            <a:ext cx="254237" cy="993836"/>
            <a:chOff x="0" y="0"/>
            <a:chExt cx="4338976" cy="1696147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38976" cy="16961470"/>
            </a:xfrm>
            <a:custGeom>
              <a:avLst/>
              <a:gdLst/>
              <a:ahLst/>
              <a:cxnLst/>
              <a:rect r="r" b="b" t="t" l="l"/>
              <a:pathLst>
                <a:path h="16961470" w="4338976">
                  <a:moveTo>
                    <a:pt x="0" y="0"/>
                  </a:moveTo>
                  <a:lnTo>
                    <a:pt x="4338976" y="0"/>
                  </a:lnTo>
                  <a:lnTo>
                    <a:pt x="4338976" y="16961470"/>
                  </a:lnTo>
                  <a:lnTo>
                    <a:pt x="0" y="16961470"/>
                  </a:lnTo>
                  <a:close/>
                </a:path>
              </a:pathLst>
            </a:custGeom>
            <a:solidFill>
              <a:srgbClr val="F5C2A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4338976" cy="169709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946153" y="86121"/>
            <a:ext cx="23991597" cy="10103826"/>
          </a:xfrm>
          <a:custGeom>
            <a:avLst/>
            <a:gdLst/>
            <a:ahLst/>
            <a:cxnLst/>
            <a:rect r="r" b="b" t="t" l="l"/>
            <a:pathLst>
              <a:path h="10103826" w="23991597">
                <a:moveTo>
                  <a:pt x="0" y="0"/>
                </a:moveTo>
                <a:lnTo>
                  <a:pt x="23991597" y="0"/>
                </a:lnTo>
                <a:lnTo>
                  <a:pt x="23991597" y="10103826"/>
                </a:lnTo>
                <a:lnTo>
                  <a:pt x="0" y="101038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1008" r="0" b="-61008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26574" y="3640352"/>
            <a:ext cx="13508182" cy="6012593"/>
          </a:xfrm>
          <a:custGeom>
            <a:avLst/>
            <a:gdLst/>
            <a:ahLst/>
            <a:cxnLst/>
            <a:rect r="r" b="b" t="t" l="l"/>
            <a:pathLst>
              <a:path h="6012593" w="13508182">
                <a:moveTo>
                  <a:pt x="0" y="0"/>
                </a:moveTo>
                <a:lnTo>
                  <a:pt x="13508182" y="0"/>
                </a:lnTo>
                <a:lnTo>
                  <a:pt x="13508182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572000" y="4711687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47024" y="5138034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099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624183" y="7670920"/>
            <a:ext cx="2310545" cy="473410"/>
          </a:xfrm>
          <a:custGeom>
            <a:avLst/>
            <a:gdLst/>
            <a:ahLst/>
            <a:cxnLst/>
            <a:rect r="r" b="b" t="t" l="l"/>
            <a:pathLst>
              <a:path h="473410" w="2310545">
                <a:moveTo>
                  <a:pt x="0" y="0"/>
                </a:moveTo>
                <a:lnTo>
                  <a:pt x="2310545" y="0"/>
                </a:lnTo>
                <a:lnTo>
                  <a:pt x="2310545" y="473410"/>
                </a:lnTo>
                <a:lnTo>
                  <a:pt x="0" y="473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86435" y="8429016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923818" y="3640352"/>
            <a:ext cx="3937608" cy="6012593"/>
          </a:xfrm>
          <a:custGeom>
            <a:avLst/>
            <a:gdLst/>
            <a:ahLst/>
            <a:cxnLst/>
            <a:rect r="r" b="b" t="t" l="l"/>
            <a:pathLst>
              <a:path h="6012593" w="3937608">
                <a:moveTo>
                  <a:pt x="0" y="0"/>
                </a:moveTo>
                <a:lnTo>
                  <a:pt x="3937608" y="0"/>
                </a:lnTo>
                <a:lnTo>
                  <a:pt x="3937608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42574" y="5564382"/>
            <a:ext cx="3500096" cy="229572"/>
          </a:xfrm>
          <a:custGeom>
            <a:avLst/>
            <a:gdLst/>
            <a:ahLst/>
            <a:cxnLst/>
            <a:rect r="r" b="b" t="t" l="l"/>
            <a:pathLst>
              <a:path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42574" y="6854356"/>
            <a:ext cx="3500096" cy="218640"/>
          </a:xfrm>
          <a:custGeom>
            <a:avLst/>
            <a:gdLst/>
            <a:ahLst/>
            <a:cxnLst/>
            <a:rect r="r" b="b" t="t" l="l"/>
            <a:pathLst>
              <a:path h="218640" w="3500096">
                <a:moveTo>
                  <a:pt x="0" y="0"/>
                </a:moveTo>
                <a:lnTo>
                  <a:pt x="3500096" y="0"/>
                </a:lnTo>
                <a:lnTo>
                  <a:pt x="350009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142574" y="8352038"/>
            <a:ext cx="3500096" cy="229572"/>
          </a:xfrm>
          <a:custGeom>
            <a:avLst/>
            <a:gdLst/>
            <a:ahLst/>
            <a:cxnLst/>
            <a:rect r="r" b="b" t="t" l="l"/>
            <a:pathLst>
              <a:path h="229572" w="3500096">
                <a:moveTo>
                  <a:pt x="0" y="0"/>
                </a:moveTo>
                <a:lnTo>
                  <a:pt x="3500096" y="0"/>
                </a:lnTo>
                <a:lnTo>
                  <a:pt x="350009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934756" y="-729295"/>
            <a:ext cx="4522037" cy="4036272"/>
          </a:xfrm>
          <a:custGeom>
            <a:avLst/>
            <a:gdLst/>
            <a:ahLst/>
            <a:cxnLst/>
            <a:rect r="r" b="b" t="t" l="l"/>
            <a:pathLst>
              <a:path h="4036272" w="4522037">
                <a:moveTo>
                  <a:pt x="0" y="0"/>
                </a:moveTo>
                <a:lnTo>
                  <a:pt x="4522037" y="0"/>
                </a:lnTo>
                <a:lnTo>
                  <a:pt x="4522037" y="4036272"/>
                </a:lnTo>
                <a:lnTo>
                  <a:pt x="0" y="403627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67751" y="1355516"/>
            <a:ext cx="2193269" cy="1703811"/>
          </a:xfrm>
          <a:custGeom>
            <a:avLst/>
            <a:gdLst/>
            <a:ahLst/>
            <a:cxnLst/>
            <a:rect r="r" b="b" t="t" l="l"/>
            <a:pathLst>
              <a:path h="1703811" w="2193269">
                <a:moveTo>
                  <a:pt x="0" y="0"/>
                </a:moveTo>
                <a:lnTo>
                  <a:pt x="2193269" y="0"/>
                </a:lnTo>
                <a:lnTo>
                  <a:pt x="2193269" y="1703811"/>
                </a:lnTo>
                <a:lnTo>
                  <a:pt x="0" y="17038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2845" y="603750"/>
            <a:ext cx="7972564" cy="89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sz="6767" spc="-66" b="true">
                <a:solidFill>
                  <a:srgbClr val="F8F8F8"/>
                </a:solidFill>
                <a:latin typeface="Garet Bold"/>
                <a:ea typeface="Garet Bold"/>
                <a:cs typeface="Garet Bold"/>
                <a:sym typeface="Garet Bold"/>
              </a:rPr>
              <a:t>Planning Complet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0378" y="1592969"/>
            <a:ext cx="9219223" cy="87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b="true" sz="6662" spc="-65">
                <a:solidFill>
                  <a:srgbClr val="F5C2AF"/>
                </a:solidFill>
                <a:latin typeface="Garet Bold"/>
                <a:ea typeface="Garet Bold"/>
                <a:cs typeface="Garet Bold"/>
                <a:sym typeface="Garet Bold"/>
              </a:rPr>
              <a:t>Diagramme de Gantt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7155" y="2777336"/>
            <a:ext cx="12323821" cy="424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5"/>
              </a:lnSpc>
            </a:pPr>
            <a:r>
              <a:rPr lang="en-US" sz="2551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Vue d'ensemble du planning avec les phases, tâches, dates et durées principales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46466" y="4746898"/>
            <a:ext cx="2326061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1. Analyse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572" y="5364392"/>
            <a:ext cx="2315503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2. logo et slogan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556130" y="5364392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 j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5726" y="5981887"/>
            <a:ext cx="2316801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3. merise et data base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56130" y="5981887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 j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51468" y="6614442"/>
            <a:ext cx="1825818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4. UML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28063" y="6614442"/>
            <a:ext cx="80932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 j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48738" y="7201815"/>
            <a:ext cx="2323790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5. UI/UX design (figma)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4501" y="7864492"/>
            <a:ext cx="1943226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6. Développement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6876" y="8481986"/>
            <a:ext cx="128500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7. Tests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46466" y="8982098"/>
            <a:ext cx="3008248" cy="542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9. preparation de presentation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313774" y="4737373"/>
            <a:ext cx="1837396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DÉBUT DU PROJET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21212" y="4998942"/>
            <a:ext cx="1093679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F5C2AF"/>
                </a:solidFill>
                <a:latin typeface="Roboto Bold"/>
                <a:ea typeface="Roboto Bold"/>
                <a:cs typeface="Roboto Bold"/>
                <a:sym typeface="Roboto Bold"/>
              </a:rPr>
              <a:t>07/09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321212" y="6233931"/>
            <a:ext cx="1488732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F5C2AF"/>
                </a:solidFill>
                <a:latin typeface="Roboto Bold"/>
                <a:ea typeface="Roboto Bold"/>
                <a:cs typeface="Roboto Bold"/>
                <a:sym typeface="Roboto Bold"/>
              </a:rPr>
              <a:t>06/010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329143" y="7503032"/>
            <a:ext cx="297945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Développement + Conception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4335048" y="7954857"/>
            <a:ext cx="2388967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Tests + Identité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4345431" y="8899700"/>
            <a:ext cx="1350638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 b="true">
                <a:solidFill>
                  <a:srgbClr val="F5C2AF"/>
                </a:solidFill>
                <a:latin typeface="Roboto Bold"/>
                <a:ea typeface="Roboto Bold"/>
                <a:cs typeface="Roboto Bold"/>
                <a:sym typeface="Roboto Bold"/>
              </a:rPr>
              <a:t>1 </a:t>
            </a:r>
            <a:r>
              <a:rPr lang="en-US" b="true" sz="3102">
                <a:solidFill>
                  <a:srgbClr val="F5C2AF"/>
                </a:solidFill>
                <a:latin typeface="Roboto Bold"/>
                <a:ea typeface="Roboto Bold"/>
                <a:cs typeface="Roboto Bold"/>
                <a:sym typeface="Roboto Bold"/>
              </a:rPr>
              <a:t>MOIS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734278" y="3923433"/>
            <a:ext cx="395713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766045" y="3923433"/>
            <a:ext cx="475303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24912" y="3923433"/>
            <a:ext cx="500694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835864" y="3923433"/>
            <a:ext cx="568338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25308" y="3923433"/>
            <a:ext cx="586154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074763" y="3923433"/>
            <a:ext cx="483945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136830" y="3923433"/>
            <a:ext cx="502936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SEP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174873" y="3923433"/>
            <a:ext cx="462820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OCT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114760" y="3923433"/>
            <a:ext cx="619015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OCT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32148" y="4081155"/>
            <a:ext cx="3321844" cy="285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88"/>
              </a:lnSpc>
            </a:pPr>
            <a:r>
              <a:rPr lang="en-US" b="true" sz="2188" spc="-21">
                <a:solidFill>
                  <a:srgbClr val="F5C2AF"/>
                </a:solidFill>
                <a:latin typeface="Roboto Bold"/>
                <a:ea typeface="Roboto Bold"/>
                <a:cs typeface="Roboto Bold"/>
                <a:sym typeface="Roboto Bold"/>
              </a:rPr>
              <a:t>POINTS CLÉS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680868" y="4089103"/>
            <a:ext cx="1564713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b="true" sz="1617" spc="-15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PHASE / TÂCHE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556341" y="4089103"/>
            <a:ext cx="660411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7"/>
              </a:lnSpc>
            </a:pPr>
            <a:r>
              <a:rPr lang="en-US" b="true" sz="1617" spc="-15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DURÉE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3990671" y="4250756"/>
            <a:ext cx="1882928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7 → 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718622" y="4269833"/>
            <a:ext cx="570150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10/9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435398" y="4269833"/>
            <a:ext cx="1279722" cy="211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1"/>
              </a:lnSpc>
            </a:pPr>
            <a:r>
              <a:rPr lang="en-US" sz="1571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11→15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439580" y="4269833"/>
            <a:ext cx="1360906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11→16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624183" y="4269833"/>
            <a:ext cx="1188403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17→24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583826" y="4269833"/>
            <a:ext cx="1465819" cy="222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25→28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049645" y="4269833"/>
            <a:ext cx="570150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29/9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121208" y="4269833"/>
            <a:ext cx="570150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2/10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39192" y="4269833"/>
            <a:ext cx="570150" cy="218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7"/>
              </a:lnSpc>
            </a:pPr>
            <a:r>
              <a:rPr lang="en-US" sz="1617" spc="-15">
                <a:solidFill>
                  <a:srgbClr val="F8F8F8">
                    <a:alpha val="6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5→6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556130" y="4746898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 j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317136" y="5912118"/>
            <a:ext cx="1501230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FIN DU PROJET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302316" y="7116985"/>
            <a:ext cx="2983265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CHEVAUCHEMENTS MAJEURS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3556130" y="7201815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 j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556130" y="7849431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14 j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556130" y="8481986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 j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4317221" y="8638130"/>
            <a:ext cx="1492722" cy="241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DURÉE TOTALE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3556130" y="9084420"/>
            <a:ext cx="681514" cy="249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88"/>
              </a:lnSpc>
            </a:pPr>
            <a:r>
              <a:rPr lang="en-US" sz="174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 j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5284205" y="7072996"/>
            <a:ext cx="2789722" cy="473410"/>
          </a:xfrm>
          <a:custGeom>
            <a:avLst/>
            <a:gdLst/>
            <a:ahLst/>
            <a:cxnLst/>
            <a:rect r="r" b="b" t="t" l="l"/>
            <a:pathLst>
              <a:path h="473410" w="2789722">
                <a:moveTo>
                  <a:pt x="0" y="0"/>
                </a:moveTo>
                <a:lnTo>
                  <a:pt x="2789722" y="0"/>
                </a:lnTo>
                <a:lnTo>
                  <a:pt x="2789722" y="473410"/>
                </a:lnTo>
                <a:lnTo>
                  <a:pt x="0" y="4734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0369" r="0" b="-10369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5079989" y="6614442"/>
            <a:ext cx="3826188" cy="334729"/>
          </a:xfrm>
          <a:custGeom>
            <a:avLst/>
            <a:gdLst/>
            <a:ahLst/>
            <a:cxnLst/>
            <a:rect r="r" b="b" t="t" l="l"/>
            <a:pathLst>
              <a:path h="334729" w="3826188">
                <a:moveTo>
                  <a:pt x="0" y="0"/>
                </a:moveTo>
                <a:lnTo>
                  <a:pt x="3826188" y="0"/>
                </a:lnTo>
                <a:lnTo>
                  <a:pt x="3826188" y="334729"/>
                </a:lnTo>
                <a:lnTo>
                  <a:pt x="0" y="33472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05298" r="0" b="-13744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11301565" y="8429016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8" y="0"/>
                </a:lnTo>
                <a:lnTo>
                  <a:pt x="110471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1960641" y="8429016"/>
            <a:ext cx="1104718" cy="437279"/>
          </a:xfrm>
          <a:custGeom>
            <a:avLst/>
            <a:gdLst/>
            <a:ahLst/>
            <a:cxnLst/>
            <a:rect r="r" b="b" t="t" l="l"/>
            <a:pathLst>
              <a:path h="437279" w="1104718">
                <a:moveTo>
                  <a:pt x="0" y="0"/>
                </a:moveTo>
                <a:lnTo>
                  <a:pt x="1104717" y="0"/>
                </a:lnTo>
                <a:lnTo>
                  <a:pt x="1104717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12858750" y="9084420"/>
            <a:ext cx="875024" cy="438465"/>
          </a:xfrm>
          <a:custGeom>
            <a:avLst/>
            <a:gdLst/>
            <a:ahLst/>
            <a:cxnLst/>
            <a:rect r="r" b="b" t="t" l="l"/>
            <a:pathLst>
              <a:path h="438465" w="875024">
                <a:moveTo>
                  <a:pt x="0" y="0"/>
                </a:moveTo>
                <a:lnTo>
                  <a:pt x="875024" y="0"/>
                </a:lnTo>
                <a:lnTo>
                  <a:pt x="875024" y="438464"/>
                </a:lnTo>
                <a:lnTo>
                  <a:pt x="0" y="4384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35" t="0" r="-135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5079989" y="5981887"/>
            <a:ext cx="3826188" cy="334729"/>
          </a:xfrm>
          <a:custGeom>
            <a:avLst/>
            <a:gdLst/>
            <a:ahLst/>
            <a:cxnLst/>
            <a:rect r="r" b="b" t="t" l="l"/>
            <a:pathLst>
              <a:path h="334729" w="3826188">
                <a:moveTo>
                  <a:pt x="0" y="0"/>
                </a:moveTo>
                <a:lnTo>
                  <a:pt x="3826188" y="0"/>
                </a:lnTo>
                <a:lnTo>
                  <a:pt x="3826188" y="334728"/>
                </a:lnTo>
                <a:lnTo>
                  <a:pt x="0" y="334728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-105298" r="0" b="-13744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5429250" y="0"/>
            <a:ext cx="12858750" cy="8229600"/>
          </a:xfrm>
          <a:custGeom>
            <a:avLst/>
            <a:gdLst/>
            <a:ahLst/>
            <a:cxnLst/>
            <a:rect r="r" b="b" t="t" l="l"/>
            <a:pathLst>
              <a:path h="8229600" w="12858750">
                <a:moveTo>
                  <a:pt x="0" y="0"/>
                </a:moveTo>
                <a:lnTo>
                  <a:pt x="12858750" y="0"/>
                </a:lnTo>
                <a:lnTo>
                  <a:pt x="12858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7171" y="2070411"/>
            <a:ext cx="5966460" cy="8229600"/>
          </a:xfrm>
          <a:custGeom>
            <a:avLst/>
            <a:gdLst/>
            <a:ahLst/>
            <a:cxnLst/>
            <a:rect r="r" b="b" t="t" l="l"/>
            <a:pathLst>
              <a:path h="8229600" w="5966460">
                <a:moveTo>
                  <a:pt x="0" y="0"/>
                </a:moveTo>
                <a:lnTo>
                  <a:pt x="5966460" y="0"/>
                </a:lnTo>
                <a:lnTo>
                  <a:pt x="59664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06784" y="2360370"/>
            <a:ext cx="14409834" cy="8176274"/>
          </a:xfrm>
          <a:custGeom>
            <a:avLst/>
            <a:gdLst/>
            <a:ahLst/>
            <a:cxnLst/>
            <a:rect r="r" b="b" t="t" l="l"/>
            <a:pathLst>
              <a:path h="8176274" w="14409834">
                <a:moveTo>
                  <a:pt x="0" y="0"/>
                </a:moveTo>
                <a:lnTo>
                  <a:pt x="14409834" y="0"/>
                </a:lnTo>
                <a:lnTo>
                  <a:pt x="14409834" y="8176273"/>
                </a:lnTo>
                <a:lnTo>
                  <a:pt x="0" y="81762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46" r="0" b="-104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38499" y="288908"/>
            <a:ext cx="13985829" cy="187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8F8F8"/>
                </a:solidFill>
                <a:latin typeface="Garet Bold"/>
                <a:ea typeface="Garet Bold"/>
                <a:cs typeface="Garet Bold"/>
                <a:sym typeface="Garet Bold"/>
              </a:rPr>
              <a:t>Diagramme de PERT -</a:t>
            </a:r>
          </a:p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5C2AF"/>
                </a:solidFill>
                <a:latin typeface="Garet Bold"/>
                <a:ea typeface="Garet Bold"/>
                <a:cs typeface="Garet Bold"/>
                <a:sym typeface="Garet Bold"/>
              </a:rPr>
              <a:t>Dépendances et Chemin Critique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5198026" y="231758"/>
            <a:ext cx="12858750" cy="8229600"/>
          </a:xfrm>
          <a:custGeom>
            <a:avLst/>
            <a:gdLst/>
            <a:ahLst/>
            <a:cxnLst/>
            <a:rect r="r" b="b" t="t" l="l"/>
            <a:pathLst>
              <a:path h="8229600" w="12858750">
                <a:moveTo>
                  <a:pt x="0" y="0"/>
                </a:moveTo>
                <a:lnTo>
                  <a:pt x="12858750" y="0"/>
                </a:lnTo>
                <a:lnTo>
                  <a:pt x="12858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7171" y="2070411"/>
            <a:ext cx="5966460" cy="8229600"/>
          </a:xfrm>
          <a:custGeom>
            <a:avLst/>
            <a:gdLst/>
            <a:ahLst/>
            <a:cxnLst/>
            <a:rect r="r" b="b" t="t" l="l"/>
            <a:pathLst>
              <a:path h="8229600" w="5966460">
                <a:moveTo>
                  <a:pt x="0" y="0"/>
                </a:moveTo>
                <a:lnTo>
                  <a:pt x="5966460" y="0"/>
                </a:lnTo>
                <a:lnTo>
                  <a:pt x="59664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06556" y="2211370"/>
            <a:ext cx="14760675" cy="8305962"/>
          </a:xfrm>
          <a:custGeom>
            <a:avLst/>
            <a:gdLst/>
            <a:ahLst/>
            <a:cxnLst/>
            <a:rect r="r" b="b" t="t" l="l"/>
            <a:pathLst>
              <a:path h="8305962" w="14760675">
                <a:moveTo>
                  <a:pt x="0" y="0"/>
                </a:moveTo>
                <a:lnTo>
                  <a:pt x="14760674" y="0"/>
                </a:lnTo>
                <a:lnTo>
                  <a:pt x="14760674" y="8305963"/>
                </a:lnTo>
                <a:lnTo>
                  <a:pt x="0" y="83059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4" t="0" r="-54" b="-259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826" y="57150"/>
            <a:ext cx="13985829" cy="187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8F8F8"/>
                </a:solidFill>
                <a:latin typeface="Garet Bold"/>
                <a:ea typeface="Garet Bold"/>
                <a:cs typeface="Garet Bold"/>
                <a:sym typeface="Garet Bold"/>
              </a:rPr>
              <a:t>Diagramme de PERT -</a:t>
            </a:r>
          </a:p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5C2AF"/>
                </a:solidFill>
                <a:latin typeface="Garet Bold"/>
                <a:ea typeface="Garet Bold"/>
                <a:cs typeface="Garet Bold"/>
                <a:sym typeface="Garet Bold"/>
              </a:rPr>
              <a:t>Dépendances et Chemin Critique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5429250" y="-191575"/>
            <a:ext cx="12858750" cy="8229600"/>
          </a:xfrm>
          <a:custGeom>
            <a:avLst/>
            <a:gdLst/>
            <a:ahLst/>
            <a:cxnLst/>
            <a:rect r="r" b="b" t="t" l="l"/>
            <a:pathLst>
              <a:path h="8229600" w="12858750">
                <a:moveTo>
                  <a:pt x="0" y="0"/>
                </a:moveTo>
                <a:lnTo>
                  <a:pt x="12858750" y="0"/>
                </a:lnTo>
                <a:lnTo>
                  <a:pt x="1285875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7171" y="2070411"/>
            <a:ext cx="5966460" cy="8229600"/>
          </a:xfrm>
          <a:custGeom>
            <a:avLst/>
            <a:gdLst/>
            <a:ahLst/>
            <a:cxnLst/>
            <a:rect r="r" b="b" t="t" l="l"/>
            <a:pathLst>
              <a:path h="8229600" w="5966460">
                <a:moveTo>
                  <a:pt x="0" y="0"/>
                </a:moveTo>
                <a:lnTo>
                  <a:pt x="5966460" y="0"/>
                </a:lnTo>
                <a:lnTo>
                  <a:pt x="59664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5348" y="2328920"/>
            <a:ext cx="14313586" cy="8231749"/>
          </a:xfrm>
          <a:custGeom>
            <a:avLst/>
            <a:gdLst/>
            <a:ahLst/>
            <a:cxnLst/>
            <a:rect r="r" b="b" t="t" l="l"/>
            <a:pathLst>
              <a:path h="8231749" w="14313586">
                <a:moveTo>
                  <a:pt x="0" y="0"/>
                </a:moveTo>
                <a:lnTo>
                  <a:pt x="14313587" y="0"/>
                </a:lnTo>
                <a:lnTo>
                  <a:pt x="14313587" y="8231749"/>
                </a:lnTo>
                <a:lnTo>
                  <a:pt x="0" y="82317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19826" y="57150"/>
            <a:ext cx="13985829" cy="1876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8F8F8"/>
                </a:solidFill>
                <a:latin typeface="Garet Bold"/>
                <a:ea typeface="Garet Bold"/>
                <a:cs typeface="Garet Bold"/>
                <a:sym typeface="Garet Bold"/>
              </a:rPr>
              <a:t>Diagramme de PERT -</a:t>
            </a:r>
          </a:p>
          <a:p>
            <a:pPr algn="l">
              <a:lnSpc>
                <a:spcPts val="7378"/>
              </a:lnSpc>
            </a:pPr>
            <a:r>
              <a:rPr lang="en-US" sz="6587" spc="-196" b="true">
                <a:solidFill>
                  <a:srgbClr val="F5C2AF"/>
                </a:solidFill>
                <a:latin typeface="Garet Bold"/>
                <a:ea typeface="Garet Bold"/>
                <a:cs typeface="Garet Bold"/>
                <a:sym typeface="Garet Bold"/>
              </a:rPr>
              <a:t>Dépendances et Chemin Critique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144215" y="-794029"/>
            <a:ext cx="19753565" cy="7204755"/>
          </a:xfrm>
          <a:custGeom>
            <a:avLst/>
            <a:gdLst/>
            <a:ahLst/>
            <a:cxnLst/>
            <a:rect r="r" b="b" t="t" l="l"/>
            <a:pathLst>
              <a:path h="7204755" w="19753565">
                <a:moveTo>
                  <a:pt x="0" y="0"/>
                </a:moveTo>
                <a:lnTo>
                  <a:pt x="19753565" y="0"/>
                </a:lnTo>
                <a:lnTo>
                  <a:pt x="19753565" y="7204754"/>
                </a:lnTo>
                <a:lnTo>
                  <a:pt x="0" y="7204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4155" t="0" r="-24155" b="-979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90543" y="1313079"/>
            <a:ext cx="6322048" cy="7728915"/>
          </a:xfrm>
          <a:custGeom>
            <a:avLst/>
            <a:gdLst/>
            <a:ahLst/>
            <a:cxnLst/>
            <a:rect r="r" b="b" t="t" l="l"/>
            <a:pathLst>
              <a:path h="7728915" w="6322048">
                <a:moveTo>
                  <a:pt x="0" y="0"/>
                </a:moveTo>
                <a:lnTo>
                  <a:pt x="6322048" y="0"/>
                </a:lnTo>
                <a:lnTo>
                  <a:pt x="6322048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293243" y="1296061"/>
            <a:ext cx="3926670" cy="7728915"/>
          </a:xfrm>
          <a:custGeom>
            <a:avLst/>
            <a:gdLst/>
            <a:ahLst/>
            <a:cxnLst/>
            <a:rect r="r" b="b" t="t" l="l"/>
            <a:pathLst>
              <a:path h="7728915" w="3926670">
                <a:moveTo>
                  <a:pt x="0" y="0"/>
                </a:moveTo>
                <a:lnTo>
                  <a:pt x="3926670" y="0"/>
                </a:lnTo>
                <a:lnTo>
                  <a:pt x="3926670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6129580"/>
            <a:ext cx="9361843" cy="54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562">
                <a:solidFill>
                  <a:srgbClr val="FAFAFA">
                    <a:alpha val="89804"/>
                  </a:srgbClr>
                </a:solidFill>
                <a:latin typeface="Alexandria"/>
                <a:ea typeface="Alexandria"/>
                <a:cs typeface="Alexandria"/>
                <a:sym typeface="Alexandria"/>
              </a:rPr>
              <a:t>Un projet maîtrisé, des objectifs atteints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019735" y="1772449"/>
            <a:ext cx="6236844" cy="5566870"/>
          </a:xfrm>
          <a:custGeom>
            <a:avLst/>
            <a:gdLst/>
            <a:ahLst/>
            <a:cxnLst/>
            <a:rect r="r" b="b" t="t" l="l"/>
            <a:pathLst>
              <a:path h="5566870" w="6236844">
                <a:moveTo>
                  <a:pt x="0" y="0"/>
                </a:moveTo>
                <a:lnTo>
                  <a:pt x="6236843" y="0"/>
                </a:lnTo>
                <a:lnTo>
                  <a:pt x="6236843" y="5566870"/>
                </a:lnTo>
                <a:lnTo>
                  <a:pt x="0" y="55668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582374" y="4647843"/>
            <a:ext cx="3024981" cy="2349915"/>
          </a:xfrm>
          <a:custGeom>
            <a:avLst/>
            <a:gdLst/>
            <a:ahLst/>
            <a:cxnLst/>
            <a:rect r="r" b="b" t="t" l="l"/>
            <a:pathLst>
              <a:path h="2349915" w="3024981">
                <a:moveTo>
                  <a:pt x="0" y="0"/>
                </a:moveTo>
                <a:lnTo>
                  <a:pt x="3024981" y="0"/>
                </a:lnTo>
                <a:lnTo>
                  <a:pt x="3024981" y="2349915"/>
                </a:lnTo>
                <a:lnTo>
                  <a:pt x="0" y="23499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18819" y="1619911"/>
            <a:ext cx="9200916" cy="2700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264"/>
              </a:lnSpc>
            </a:pPr>
            <a:r>
              <a:rPr lang="en-US" sz="11400" spc="-339" b="true">
                <a:solidFill>
                  <a:srgbClr val="FAFAFA"/>
                </a:solidFill>
                <a:latin typeface="Garet Bold"/>
                <a:ea typeface="Garet Bold"/>
                <a:cs typeface="Garet Bold"/>
                <a:sym typeface="Garet Bold"/>
              </a:rPr>
              <a:t>Conclusion et </a:t>
            </a:r>
            <a:r>
              <a:rPr lang="en-US" sz="11400" spc="-339" b="true">
                <a:solidFill>
                  <a:srgbClr val="F5C2AF"/>
                </a:solidFill>
                <a:latin typeface="Garet Bold"/>
                <a:ea typeface="Garet Bold"/>
                <a:cs typeface="Garet Bold"/>
                <a:sym typeface="Garet Bold"/>
              </a:rPr>
              <a:t>Questions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5943" y="4555884"/>
            <a:ext cx="6637523" cy="108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562">
                <a:solidFill>
                  <a:srgbClr val="FAFAFA">
                    <a:alpha val="89804"/>
                  </a:srgbClr>
                </a:solidFill>
                <a:latin typeface="Alexandria"/>
                <a:ea typeface="Alexandria"/>
                <a:cs typeface="Alexandria"/>
                <a:sym typeface="Alexandria"/>
              </a:rPr>
              <a:t>Une organisation rigoureuse grâce au Gantt et au PERT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61364" y="7201769"/>
            <a:ext cx="6095405" cy="54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562">
                <a:solidFill>
                  <a:srgbClr val="FAFAFA">
                    <a:alpha val="89804"/>
                  </a:srgbClr>
                </a:solidFill>
                <a:latin typeface="Alexandria"/>
                <a:ea typeface="Alexandria"/>
                <a:cs typeface="Alexandria"/>
                <a:sym typeface="Alexandria"/>
              </a:rPr>
              <a:t>Merci pour votre attention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84712" y="8256664"/>
            <a:ext cx="3760641" cy="542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75"/>
              </a:lnSpc>
            </a:pPr>
            <a:r>
              <a:rPr lang="en-US" sz="3562">
                <a:solidFill>
                  <a:srgbClr val="FAFAFA">
                    <a:alpha val="89804"/>
                  </a:srgbClr>
                </a:solidFill>
                <a:latin typeface="Alexandria"/>
                <a:ea typeface="Alexandria"/>
                <a:cs typeface="Alexandria"/>
                <a:sym typeface="Alexandria"/>
              </a:rPr>
              <a:t>À vous la parole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DAHXGDgKUb0</dc:identifier>
  <dcterms:modified xsi:type="dcterms:W3CDTF">2011-08-01T06:04:30Z</dcterms:modified>
  <cp:revision>1</cp:revision>
  <dc:title>Projet FACILO</dc:title>
</cp:coreProperties>
</file>